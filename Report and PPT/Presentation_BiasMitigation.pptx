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DPD After Mitigation (lower = fairer)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DPD (Demographic Parity Difference)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612-43CF-A14A-A7AC4746B306}"/>
              </c:ext>
            </c:extLst>
          </c:dPt>
          <c:dPt>
            <c:idx val="1"/>
            <c:invertIfNegative val="0"/>
            <c:bubble3D val="0"/>
            <c:spPr>
              <a:solidFill>
                <a:srgbClr val="CC66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612-43CF-A14A-A7AC4746B306}"/>
              </c:ext>
            </c:extLst>
          </c:dPt>
          <c:dPt>
            <c:idx val="2"/>
            <c:invertIfNegative val="0"/>
            <c:bubble3D val="0"/>
            <c:spPr>
              <a:solidFill>
                <a:srgbClr val="CC66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612-43CF-A14A-A7AC4746B306}"/>
              </c:ext>
            </c:extLst>
          </c:dPt>
          <c:dPt>
            <c:idx val="3"/>
            <c:invertIfNegative val="0"/>
            <c:bubble3D val="0"/>
            <c:spPr>
              <a:solidFill>
                <a:srgbClr val="1F49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612-43CF-A14A-A7AC4746B306}"/>
              </c:ext>
            </c:extLst>
          </c:dPt>
          <c:dPt>
            <c:idx val="4"/>
            <c:invertIfNegative val="0"/>
            <c:bubble3D val="0"/>
            <c:spPr>
              <a:solidFill>
                <a:srgbClr val="1F49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612-43CF-A14A-A7AC4746B306}"/>
              </c:ext>
            </c:extLst>
          </c:dPt>
          <c:dPt>
            <c:idx val="5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612-43CF-A14A-A7AC4746B306}"/>
              </c:ext>
            </c:extLst>
          </c:dPt>
          <c:dPt>
            <c:idx val="6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612-43CF-A14A-A7AC4746B30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Baseline</c:v>
                </c:pt>
                <c:pt idx="1">
                  <c:v>Reweighing</c:v>
                </c:pt>
                <c:pt idx="2">
                  <c:v>DI Remover</c:v>
                </c:pt>
                <c:pt idx="3">
                  <c:v>Adv. Debiasing</c:v>
                </c:pt>
                <c:pt idx="4">
                  <c:v>Prej. Remover</c:v>
                </c:pt>
                <c:pt idx="5">
                  <c:v>Eq. Odds</c:v>
                </c:pt>
                <c:pt idx="6">
                  <c:v>Calib. Eq. Odds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0.14899999999999999</c:v>
                </c:pt>
                <c:pt idx="1">
                  <c:v>9.1999999999999998E-2</c:v>
                </c:pt>
                <c:pt idx="2">
                  <c:v>7.8E-2</c:v>
                </c:pt>
                <c:pt idx="3">
                  <c:v>4.2999999999999997E-2</c:v>
                </c:pt>
                <c:pt idx="4">
                  <c:v>5.0999999999999997E-2</c:v>
                </c:pt>
                <c:pt idx="5">
                  <c:v>6.7000000000000004E-2</c:v>
                </c:pt>
                <c:pt idx="6">
                  <c:v>7.0999999999999994E-2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612-43CF-A14A-A7AC4746B3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4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554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92390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Analysis of Bias Mitigation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Techniques in Supervised Machine Learning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Vansh Sharma – 2210990939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Yash – 2210990973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Jatin Bansal – 2210991707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Shashwat Singh – 2210990814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46042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315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Shikha Tuteja</a:t>
            </a:r>
            <a:endParaRPr lang="en-US" sz="1500" b="1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sz="24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10952C0B-110D-4F91-431F-081AEF6A27EE}"/>
              </a:ext>
            </a:extLst>
          </p:cNvPr>
          <p:cNvSpPr/>
          <p:nvPr/>
        </p:nvSpPr>
        <p:spPr>
          <a:xfrm>
            <a:off x="0" y="-18288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-18288"/>
            <a:ext cx="1874520" cy="548640"/>
          </a:xfrm>
          <a:prstGeom prst="rect">
            <a:avLst/>
          </a:prstGeom>
        </p:spPr>
      </p:pic>
      <p:sp>
        <p:nvSpPr>
          <p:cNvPr id="12" name="Shape 12">
            <a:extLst>
              <a:ext uri="{FF2B5EF4-FFF2-40B4-BE49-F238E27FC236}">
                <a16:creationId xmlns:a16="http://schemas.microsoft.com/office/drawing/2014/main" id="{9E0C0001-A29D-CAF2-38BF-7FC84E7FAD19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of Contents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85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10881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4904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 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892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 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&amp; Datasets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2951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 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 Mitigation Techniques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6858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 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54880" y="108813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 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Baseline Performance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54880" y="14904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 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Post-Mitigation Analysis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54880" y="18928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 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Fairness–Accuracy Trade-off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54880" y="229514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 </a:t>
            </a: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(ML) systems are increasingly used in high-stakes domains: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078992"/>
            <a:ext cx="1965960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7899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Hiring &amp; recruitment platforms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14600" y="1078992"/>
            <a:ext cx="1965960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14600" y="107899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Credit scoring &amp; lending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78992"/>
            <a:ext cx="1965960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07899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risk assessment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1078992"/>
            <a:ext cx="1965960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107899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Criminal recidivism prediction (COMPAS)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202996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Core Problem:</a:t>
            </a: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Models trained on historical data can encode and amplify existing societal biases, leading to systematically unfair outcomes for specific demographic groups — often without the model ever explicitly referencing protected attributes.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" y="278892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 of Bias: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Underrepresentation of demographic groups in training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Proxy variables that correlate with protected attributes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Label noise from historically biased human judgments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" y="38221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study presents a systematic comparison of six bias mitigation strategies across three pipeline stages to provide evidence-based guidance for practitioners.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Research Contributions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Despite numerous individual bias mitigation techniques, few studies compare all three intervention families (pre-, in-, and post-processing) under identical experimental conditions. Practitioners lack clear, evidence-based guidance for choosing the right approach.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783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Principal Contributions of This Study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2194560"/>
            <a:ext cx="416052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2194560"/>
            <a:ext cx="411480" cy="1051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19456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67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Benchmark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254203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Compares 6 mitigation techniques (2 per stage) using the same datasets, classifiers, and evaluation metrics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2194560"/>
            <a:ext cx="416052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2194560"/>
            <a:ext cx="411480" cy="1051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219456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66360" y="2267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Cross-Classifier Analysis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166360" y="254203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Tests Logistic Regression, Decision Tree, and Random Forest to show mitigation effectiveness varies by model architecture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3383280"/>
            <a:ext cx="416052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3383280"/>
            <a:ext cx="411480" cy="1051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38328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Empirical Trade-off Evidence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3730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In-processing = max fairness at higher accuracy cost; Pre-processing = consistent, affordable improvements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09160" y="3383280"/>
            <a:ext cx="416052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3383280"/>
            <a:ext cx="411480" cy="1051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09160" y="338328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16636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Practitioner Framework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166360" y="3730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guidance based on deployment constraints, regulatory requirements, and acceptable performance margins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621792"/>
            <a:ext cx="54864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Barocas, Hardt &amp; Narayanan (2023)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85039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Defined group fairness (statistical parity across demographic groups) vs. individual fairness. Established Equal Opportunity &amp; Demographic Parity as core metrics.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417320"/>
            <a:ext cx="54864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4173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Calders, Kamiran &amp; Pechenizkiy (2009)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6459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Showed instance-level reweighing calibrated to sensitive attributes reduces discriminatory patterns in classifiers without changing data structure.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2212848"/>
            <a:ext cx="54864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2128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Zafar et al. (2017)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4414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Embedded covariance-based fairness constraints into logistic regression, demonstrating accuracy and fairness are not always mutually exclusive.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3008376"/>
            <a:ext cx="54864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00837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Hardt, Price &amp; Srebro (2016)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323697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Introduced equalized odds post-processing — group-specific decision thresholds that enforce fairness without retraining the model.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3803904"/>
            <a:ext cx="54864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8039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Bellamy et al. / AI Fairness 360 (2019)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03250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Provided a comprehensive fairness toolkit (IBM AIF360) with implementations of pre-, in-, and post-processing techniques used in this study.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– Datasets &amp; Baseline Models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Datasets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" y="987552"/>
            <a:ext cx="416052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987552"/>
            <a:ext cx="416052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98755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Adult Income Dataset (UCI)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37160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Records: </a:t>
            </a: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48,842 (1994 U.S. Census)
</a:t>
            </a:r>
            <a:r>
              <a:rPr lang="en-US" sz="13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</a:t>
            </a: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economic &amp; demographic
</a:t>
            </a:r>
            <a:r>
              <a:rPr lang="en-US" sz="13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</a:t>
            </a: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Annual income &gt; $50K
</a:t>
            </a:r>
            <a:r>
              <a:rPr lang="en-US" sz="13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Sensitive Attr: </a:t>
            </a: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Gender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987552"/>
            <a:ext cx="416052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987552"/>
            <a:ext cx="416052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98755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COMPAS Dataset (ProPublica)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137160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Records: </a:t>
            </a: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7,214 defendant records
</a:t>
            </a:r>
            <a:r>
              <a:rPr lang="en-US" sz="13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</a:t>
            </a: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Broward County, FL (2016)
</a:t>
            </a:r>
            <a:r>
              <a:rPr lang="en-US" sz="13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</a:t>
            </a: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Re-arrest within 2 years
</a:t>
            </a:r>
            <a:r>
              <a:rPr lang="en-US" sz="13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Sensitive Attr: </a:t>
            </a: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26517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Classifiers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65760" y="2999232"/>
            <a:ext cx="269748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2999232"/>
            <a:ext cx="2697480" cy="5029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99923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35204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decision boundary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interpretability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Good baseline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46120" y="2999232"/>
            <a:ext cx="269748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46120" y="2999232"/>
            <a:ext cx="2697480" cy="5029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46120" y="299923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337560" y="35204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branching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 complexity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26480" y="2999232"/>
            <a:ext cx="269748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26480" y="2999232"/>
            <a:ext cx="2697480" cy="5029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299923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217920" y="35204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of trees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accuracy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Handles non-linearity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Setup: Python 3.10 | Scikit-learn | IBM AI Fairness 360 | 80/20 train-test split (stratified) | 5-fold CV | Fixed random seeds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 Mitigation Techniques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621792"/>
            <a:ext cx="1325880" cy="12618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21792"/>
            <a:ext cx="1325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PRE-PROCESSING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91640" y="667512"/>
            <a:ext cx="3566160" cy="117043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83080" y="713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Reweighing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783080" y="10058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Assigns scalar weights to training instances based on sensitive attribute + label. Upweights underrepresented positive-label groups.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394960" y="667512"/>
            <a:ext cx="3566160" cy="117043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713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Disparate Impact Remover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0" y="10058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Modifies non-sensitive feature distributions within each group to reduce statistical correlation with group membership.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74320" y="2039112"/>
            <a:ext cx="1325880" cy="126187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039112"/>
            <a:ext cx="1325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IN-PROCESSING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691640" y="2084832"/>
            <a:ext cx="3566160" cy="117043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83080" y="2130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Debiasing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783080" y="2423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Trains an adversarial network to predict sensitive attributes; primary model is penalized for encoding group-distinguishing signals.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394960" y="2084832"/>
            <a:ext cx="3566160" cy="117043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21305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Prejudice Remover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0" y="2423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Adds a regularization term to logistic loss penalizing mutual information between predictions and sensitive attributes.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74320" y="3456432"/>
            <a:ext cx="1325880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3456432"/>
            <a:ext cx="1325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POST-PROCESSING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691640" y="3502152"/>
            <a:ext cx="3566160" cy="117043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83080" y="3547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Equalized Odds Post-Processing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783080" y="38404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Finds group-specific decision thresholds via linear program to equalize TPR and FPR across groups. No retraining needed.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394960" y="3502152"/>
            <a:ext cx="3566160" cy="117043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0" y="3547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Calibrated Equalized Odds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486400" y="38404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Extends equalized odds with score calibration — predicted probabilities maintain consistent meaning across demographic groups.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658368"/>
            <a:ext cx="41605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658368"/>
            <a:ext cx="4160520" cy="38404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65836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9768" y="1097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proportion of correctly classified instances. Standard performance measure.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" y="1956816"/>
            <a:ext cx="3931920" cy="38404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19568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 Predictions / Total Predictions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09160" y="658368"/>
            <a:ext cx="41605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658368"/>
            <a:ext cx="4160520" cy="38404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65836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Macro-F1 Score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18888" y="1097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Averages F1 across classes with equal weight — more revealing under class imbalance (present in both datasets).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818888" y="1956816"/>
            <a:ext cx="3931920" cy="38404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18888" y="19568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of per-class F1 scores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2670048"/>
            <a:ext cx="41605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" y="2670048"/>
            <a:ext cx="416052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267004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Demographic Parity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Difference (DPD)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29768" y="31089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Absolute difference in positive prediction rates between advantaged and disadvantaged groups. DPD = 0 means equal rates regardless of actual base rates.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9768" y="3968496"/>
            <a:ext cx="3931920" cy="38404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" y="39684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P(Ŷ=1 | A=0) − P(Ŷ=1 | A=1)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709160" y="2670048"/>
            <a:ext cx="41605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2670048"/>
            <a:ext cx="416052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09160" y="267004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Equal Opportunity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Difference (EOD)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18888" y="31089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Difference in True Positive Rates across groups — assesses whether the model is equally effective at identifying positive cases in each group.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818888" y="3968496"/>
            <a:ext cx="3931920" cy="38404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18888" y="39684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TPR(A=0) − TPR(A=1)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Baseline Performance (Adult Income Dataset)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any mitigation — all three classifiers show measurable group-level disparity: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24128"/>
          <a:ext cx="7863840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 (%)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DPD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EOD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Regression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82.4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0.798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0.149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0.132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Decision Tree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83.7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0.811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0.163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0.147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86.2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0.197 ⚠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0.178 ⚠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154680"/>
            <a:ext cx="4160520" cy="1005840"/>
          </a:xfrm>
          <a:prstGeom prst="rect">
            <a:avLst/>
          </a:prstGeom>
          <a:solidFill>
            <a:srgbClr val="FFF3F3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32004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Accuracy–Fairness Paradox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11480" y="349300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achieves the highest accuracy (86.2%) but also exhibits the worst demographic disparity (DPD = 0.197). High accuracy does not guarantee equitable outcomes.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4663440" y="3154680"/>
            <a:ext cx="4160520" cy="1005840"/>
          </a:xfrm>
          <a:prstGeom prst="rect">
            <a:avLst/>
          </a:prstGeom>
          <a:solidFill>
            <a:srgbClr val="F3F3FF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0" y="32004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COMPAS Dataset Trend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54880" y="349300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DPD values on COMPAS consistently exceed 0.25 across all models, reflecting deep-rooted racial disparities in the original scoring system that pre-date algorithmic use.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Post-Mitigation (Logistic Regression, Adult Income)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58368"/>
          <a:ext cx="7772400" cy="321868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 (%)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DPD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EOD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(No Mitigation)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82.4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0.798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0.149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0.132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Reweighing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66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81.9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0.787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0.092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0.083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 Remover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66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80.3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0.774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0.078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0.071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Adversarial Debiasing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497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79.1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0.762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0.043 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0.039 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Prejudice Remover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497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78.8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0.759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0.051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0.046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Eq. Odds Post-Processing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80.7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0.776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0.067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0.062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Calibrated Eq. Odds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81.2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0.781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0.071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0.065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six techniques reduce DPD and EOD vs. baseline. In-processing achieves the greatest bias reduction (DPD ↓ to 0.043) at the cost of 3–4 accuracy points. Pre-processing offers consistent improvement with &lt;2 accuracy point loss.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Fairness–Accuracy Trade-off Analysis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274320" y="621792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0" y="6217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40680" y="1051560"/>
            <a:ext cx="54864" cy="68580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77840" y="10515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Pre-Processing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577840" y="13075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but consistent fairness gains. Accuracy drops &lt;2 pts. Best default choice for resource-constrained deployments.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40680" y="2057400"/>
            <a:ext cx="54864" cy="6858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577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In-Processing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77840" y="231343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Maximum bias reduction (DPD → 0.043). Accuracy cost of 3–4 pts. Best when fairness is a primary design goal.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40680" y="3063240"/>
            <a:ext cx="54864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577840" y="3063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Post-Processing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77840" y="33192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Middle ground — no retraining needed. Ideal for retrofitting fairness into existing deployed models.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74320" y="4023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Calibrated Equalized Odds retains slightly more predictive value than standard Eq. Odds (81.2% vs 80.7%), confirming calibration effectively regularizes threshold adjustments.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658368"/>
            <a:ext cx="416052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658368"/>
            <a:ext cx="457200" cy="173736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658368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7498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Pre-Processing — Best Default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1069848"/>
            <a:ext cx="3520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Reweighing and DI Remover deliver consistent, affordable fairness gains with minimal accuracy loss (&lt;2 pts). Ideal for production deployments where retraining is costly or compliance overhead is high.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658368"/>
            <a:ext cx="416052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658368"/>
            <a:ext cx="457200" cy="173736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658368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12080" y="7498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In-Processing — Maximum Fairness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12080" y="1069848"/>
            <a:ext cx="3520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Debiasing achieves the lowest DPD/EOD values across all experiments. The 3–5 accuracy point cost is quantifiable and acceptable in settings where fairness is the primary design goal.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578608"/>
            <a:ext cx="416052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2578608"/>
            <a:ext cx="457200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578608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267004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Post-Processing — Retrofit Without Retraining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2990088"/>
            <a:ext cx="3520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Equalized Odds methods can be applied to already-deployed black-box models. Calibrated Eq. Odds also maintains probabilistic interpretability across demographic groups.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2578608"/>
            <a:ext cx="416052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578608"/>
            <a:ext cx="457200" cy="1737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2578608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212080" y="267004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Universal Solution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212080" y="2990088"/>
            <a:ext cx="3520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selection must be guided by deployment constraints — accuracy budget, interpretability requirements, computational resources, regulatory requirements (e.g., EU AI Act), and the nature of the sensitive feature.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Directions for Future Research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4572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972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115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Intersectional Fairness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13716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the framework to analyze bias across multiple concurrently sensitive attributes (e.g., gender × race × age) — currently underexplored in the literature.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" y="1810512"/>
            <a:ext cx="4572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81051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&amp; LLMs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208483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mitigation efficacy on deep learning architectures and large language model fine-tuning pipelines where standard AIF360 techniques may need adaptation.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20040" y="2523744"/>
            <a:ext cx="4572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5237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2542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Ethical Acceptance Standards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279806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domain-specific standards for acceptable accuracy–fairness trade-offs that can be integrated into model approval workflows and regulatory compliance.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20040" y="3236976"/>
            <a:ext cx="4572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23697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32552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Monitoring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68680" y="351129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continuous fairness monitoring systems that detect distributional shifts and trigger re-mitigation in production ML pipelines automatically.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0040" y="3950208"/>
            <a:ext cx="4572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95020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68680" y="39684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EU AI Act Alignment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8680" y="42245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mitigation technique recommendations directly to EU AI Act compliance requirements for high-risk AI systems, bridging empirical research and legal frameworks.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6459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Analysis of Bias Mitigation Techniques in Supervised Machine Learning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0" y="3063240"/>
            <a:ext cx="36576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4553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1523</Words>
  <Application>Microsoft Office PowerPoint</Application>
  <PresentationFormat>On-screen Show (16:9)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Bias Mitigation Techniques in Supervised Machine Learning</dc:title>
  <dc:subject>PptxGenJS Presentation</dc:subject>
  <dc:creator>PptxGenJS</dc:creator>
  <cp:lastModifiedBy>Vansh Sharma</cp:lastModifiedBy>
  <cp:revision>2</cp:revision>
  <dcterms:created xsi:type="dcterms:W3CDTF">2026-04-28T07:58:27Z</dcterms:created>
  <dcterms:modified xsi:type="dcterms:W3CDTF">2026-04-28T08:15:36Z</dcterms:modified>
</cp:coreProperties>
</file>